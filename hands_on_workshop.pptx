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Arial"/>
              </a:defRPr>
            </a:pPr>
            <a:r>
              <a:t>EESTEC LC THESSALONIKI  |  ARTIFICIAL INTELLIGENCE SYMPOSIUM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Part 2: Hands-On Workshop</a:t>
            </a:r>
            <a:br/>
            <a:r>
              <a:t>Building Your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Evolving from Autocomplete to Autonomous Agentic Architectures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Intelligent Systems &amp; Software Engineering Lab (ISSEL)</a:t>
            </a:r>
            <a:br/>
            <a:r>
              <a:t>Electrical and Computer Engineering Dept., Aristotle University of Thessaloniki, Greece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5-Phase Progression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Our ladder of complexity: We introduce exactly one foundational system shift per phase to build up the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9202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PHASE 1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CLI Chatbot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statelessness, messages, history, LCEL invoke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19202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PHASE 2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CLI with Streaming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generator chunks, real-time streaming, latency drop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19202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PHASE 3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Chainlit Web UI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skip Streamlit, async event callbacks, session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03120"/>
            <a:ext cx="19202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PHASE 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Local MCP Tools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math, system clock, weather, journal notes,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103120"/>
            <a:ext cx="1920240" cy="38404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6366F1"/>
                </a:solidFill>
                <a:latin typeface="Arial"/>
              </a:defRPr>
            </a:pPr>
            <a:r>
              <a:t>PHASE 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Parallel Agent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async gather, resilient error feedback, collapsible run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Phase 1: The CLI Chatbot (main1.py)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LLMs are Stateless by Design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The API endpoints have no memory. Every prompt is a brand-new, isolated request. Memory must be managed manually on the client side.</a:t>
            </a:r>
          </a:p>
          <a:p>
            <a:pPr>
              <a:spcBef>
                <a:spcPts val="1800"/>
              </a:spcBef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The Message Schema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We represent chat content using LangChain structure classes:</a:t>
            </a:r>
            <a:br/>
            <a:r>
              <a:t>• SystemMessage: Steers personality &amp; boundaries</a:t>
            </a:r>
            <a:br/>
            <a:r>
              <a:t>• HumanMessage: Represents the user's input</a:t>
            </a:r>
            <a:br/>
            <a:r>
              <a:t>• AIMessage: The assistant's text response</a:t>
            </a:r>
          </a:p>
          <a:p>
            <a:pPr>
              <a:spcBef>
                <a:spcPts val="1800"/>
              </a:spcBef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Message History Compilation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We maintain a persistent Python list context: messages = [system_prompt]. On every turn, we append inputs, invoke the model, and record replies.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main1.py (Core Message Loop)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messages = [SystemMessage(content=prompt)]</a:t>
            </a:r>
            <a:br/>
            <a:br/>
            <a:r>
              <a:t>while True:</a:t>
            </a:r>
            <a:br/>
            <a:r>
              <a:t>    user_input = input("\nYou: ")</a:t>
            </a:r>
            <a:br/>
            <a:r>
              <a:t>    if user_input.lower() in ["exit"]: break</a:t>
            </a:r>
            <a:br/>
            <a:br/>
            <a:r>
              <a:t>    # Append new user interaction</a:t>
            </a:r>
            <a:br/>
            <a:r>
              <a:t>    messages.append(</a:t>
            </a:r>
            <a:br/>
            <a:r>
              <a:t>        HumanMessage(content=user_input)</a:t>
            </a:r>
            <a:br/>
            <a:r>
              <a:t>    )</a:t>
            </a:r>
            <a:br/>
            <a:br/>
            <a:r>
              <a:t>    # Blocking invoke execution</a:t>
            </a:r>
            <a:br/>
            <a:r>
              <a:t>    response = aimodel.invoke(messages)</a:t>
            </a:r>
            <a:br/>
            <a:r>
              <a:t>    print(f"\nAI: {response.content}")</a:t>
            </a:r>
            <a:br/>
            <a:br/>
            <a:r>
              <a:t>    # Save response in context memory</a:t>
            </a:r>
            <a:br/>
            <a:r>
              <a:t>    messages.append(response)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Phase 2: CLI with Streaming (main2.py)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The UX Latency Problem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Waiting for a complete 300-word model response creates an artificial pause of 10+ seconds, causing user impatience and poor application feel.</a:t>
            </a:r>
          </a:p>
          <a:p>
            <a:pPr>
              <a:spcBef>
                <a:spcPts val="2000"/>
              </a:spcBef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The Generator Paradigm Shift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Instead of a single blocking API payload, the server starts yielding individual token chunks the moment they are generated.</a:t>
            </a:r>
          </a:p>
          <a:p>
            <a:pPr>
              <a:spcBef>
                <a:spcPts val="2000"/>
              </a:spcBef>
              <a:defRPr sz="1600" b="1">
                <a:solidFill>
                  <a:srgbClr val="6366F1"/>
                </a:solidFill>
                <a:latin typeface="Arial"/>
              </a:defRPr>
            </a:pPr>
            <a:r>
              <a:t>• Implementing stream()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We swap aimodel.invoke() with the aimodel.stream() generator, iterating over chunks and immediately flushing console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main2.py (Token Stream Iteration)</a:t>
            </a:r>
          </a:p>
          <a:p>
            <a:pPr>
              <a:spcBef>
                <a:spcPts val="16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print("AI: ", end="", flush=True)</a:t>
            </a:r>
            <a:br/>
            <a:r>
              <a:t>full_response = ""</a:t>
            </a:r>
            <a:br/>
            <a:br/>
            <a:r>
              <a:t># Iterate token chunks dynamically</a:t>
            </a:r>
            <a:br/>
            <a:r>
              <a:t>for chunk in aimodel.stream(messages):</a:t>
            </a:r>
            <a:br/>
            <a:r>
              <a:t>    content = chunk.content</a:t>
            </a:r>
            <a:br/>
            <a:r>
              <a:t>    # Flush immediately to console</a:t>
            </a:r>
            <a:br/>
            <a:r>
              <a:t>    print(content, end="", flush=True)</a:t>
            </a:r>
            <a:br/>
            <a:r>
              <a:t>    full_response += content</a:t>
            </a:r>
            <a:br/>
            <a:r>
              <a:t>print()</a:t>
            </a:r>
            <a:br/>
            <a:br/>
            <a:r>
              <a:t># Save complete response</a:t>
            </a:r>
            <a:br/>
            <a:r>
              <a:t>messages.append(</a:t>
            </a:r>
            <a:br/>
            <a:r>
              <a:t>    AIMessage(content=full_response)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ARCHITECTURE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The 'USB-C' for Artificial Intelligence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Historically, connecting an LLM to external APIs required custom, brittle integration scripts that broke whenever endpoints updated. </a:t>
            </a:r>
            <a:br/>
            <a:br/>
            <a:r>
              <a:t>MCP established a standard runtime protocol. Instead of hardcoding API bindings, the LLM acts as a universal client that dynamically queries tool schemas from MCP servers at runtime.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11480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MCP CLIENT (LLM / Application)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41080" y="3108960"/>
            <a:ext cx="548640" cy="7315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4023360"/>
            <a:ext cx="4114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MCP SERVER (Microservice)</a:t>
            </a:r>
          </a:p>
          <a:p>
            <a:pPr algn="ctr">
              <a:spcBef>
                <a:spcPts val="1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Tools (Recursive searches, HTML scrapers)</a:t>
            </a:r>
            <a:br/>
            <a:r>
              <a:t>• Resources (File assets, Live audit logs)</a:t>
            </a:r>
            <a:br/>
            <a:r>
              <a:t>• Schema Discovery (Autogenerated 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Phase 3: Bypassing Streamlit for Chainlit (main3_chainlit.py)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• The Case Against Streamlit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Streamlit is designed for analytical dashboards. For chat agents, it is a poor fit: it forces complex browser-reloads, lacks native async generators, and demands verbose, fragile session state management.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• Chainlit: Conversational UI Native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 lightweight, async framework designed specifically for conversational AI applications. Provides built-in session handlers and rich media layouts.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  <a:latin typeface="Arial"/>
              </a:defRPr>
            </a:pPr>
            <a:r>
              <a:t>• Async Lifecycle Callbacks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• @cl.on_chat_start: Sets system prompts &amp; session memory</a:t>
            </a:r>
            <a:br/>
            <a:r>
              <a:t>• @cl.on_message: Handles prompts concurrently inside fully asynchronous, non-blocking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main3_chainlit.py (Chainlit Async Chat)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Courier New"/>
              </a:defRPr>
            </a:pPr>
            <a:r>
              <a:t>@cl.on_message</a:t>
            </a:r>
            <a:br/>
            <a:r>
              <a:t>async def on_message(message: cl.Message):</a:t>
            </a:r>
            <a:br/>
            <a:r>
              <a:t>    # Get messages from session storage</a:t>
            </a:r>
            <a:br/>
            <a:r>
              <a:t>    history = cl.user_session.get("messages")</a:t>
            </a:r>
            <a:br/>
            <a:r>
              <a:t>    history.append(HumanMessage(content=message.content))</a:t>
            </a:r>
            <a:br/>
            <a:br/>
            <a:r>
              <a:t>    assistant_msg = cl.Message(content="")</a:t>
            </a:r>
            <a:br/>
            <a:r>
              <a:t>    await assistant_msg.send()</a:t>
            </a:r>
            <a:br/>
            <a:br/>
            <a:r>
              <a:t>    # Stream response chunks asynchronously</a:t>
            </a:r>
            <a:br/>
            <a:r>
              <a:t>    full_response = ""</a:t>
            </a:r>
            <a:br/>
            <a:r>
              <a:t>    async for chunk in aimodel.astream(history):</a:t>
            </a:r>
            <a:br/>
            <a:r>
              <a:t>        content = chunk.content</a:t>
            </a:r>
            <a:br/>
            <a:r>
              <a:t>        if isinstance(content, str):</a:t>
            </a:r>
            <a:br/>
            <a:r>
              <a:t>            full_response += content</a:t>
            </a:r>
            <a:br/>
            <a:r>
              <a:t>            await assistant_msg.stream_token(content)</a:t>
            </a:r>
            <a:br/>
            <a:br/>
            <a:r>
              <a:t>    await assistant_msg.update()</a:t>
            </a:r>
            <a:br/>
            <a:r>
              <a:t>    history.append(AIMessage(content=full_response))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Phase 4: Exposing Local Tools via MCP (mcpserver.py)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The Challenge: Standardized Local APIs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Model Context Protocol creates an open runtime communication standard. Parameter type hints and docstrings generate dynamic JSON schemas for LLMs.</a:t>
            </a:r>
          </a:p>
          <a:p>
            <a:pPr>
              <a:spcBef>
                <a:spcPts val="12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Baseline Tools: math &amp; system clock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Includes add_numbers(a, b) and get_time() to quickly verify clean, robust protocol execution without API network dependencies.</a:t>
            </a:r>
          </a:p>
          <a:p>
            <a:pPr>
              <a:spcBef>
                <a:spcPts val="12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Modular Example Servers in Repo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Includes mcp_simple.py, mcp_weather.py (REST forecasting), mcp_journal.py (file system storage), and mcp_advanced.py (AST analysis).</a:t>
            </a:r>
          </a:p>
          <a:p>
            <a:pPr>
              <a:spcBef>
                <a:spcPts val="12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Colab Interactive Sandbox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Students edit, add, or remove tools inside their notebook directly to compile and launch mcpserver.py on Port 8001!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mcpserver.py (Baseline Tools Server)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Courier New"/>
              </a:defRPr>
            </a:pPr>
            <a:r>
              <a:t>from fastmcp import FastMCP</a:t>
            </a:r>
            <a:br/>
            <a:r>
              <a:t>from datetime import datetime</a:t>
            </a:r>
            <a:br/>
            <a:br/>
            <a:r>
              <a:t>mcp = FastMCP("MyAssistantTools")</a:t>
            </a:r>
            <a:br/>
            <a:br/>
            <a:r>
              <a:t>@mcp.tool()</a:t>
            </a:r>
            <a:br/>
            <a:r>
              <a:t>def add_numbers(a: int, b: int) -&gt; int:</a:t>
            </a:r>
            <a:br/>
            <a:r>
              <a:t>    """</a:t>
            </a:r>
            <a:br/>
            <a:r>
              <a:t>    Add two numbers together.</a:t>
            </a:r>
            <a:br/>
            <a:r>
              <a:t>    """</a:t>
            </a:r>
            <a:br/>
            <a:r>
              <a:t>    return a + b</a:t>
            </a:r>
            <a:br/>
            <a:br/>
            <a:r>
              <a:t>@mcp.tool()</a:t>
            </a:r>
            <a:br/>
            <a:r>
              <a:t>def get_time() -&gt; dict:</a:t>
            </a:r>
            <a:br/>
            <a:r>
              <a:t>    """</a:t>
            </a:r>
            <a:br/>
            <a:r>
              <a:t>    Returns active system time.</a:t>
            </a:r>
            <a:br/>
            <a:r>
              <a:t>    """</a:t>
            </a:r>
            <a:br/>
            <a:r>
              <a:t>    dt = datetime.now().astimezone()</a:t>
            </a:r>
            <a:br/>
            <a:r>
              <a:t>    return {"time": dt.strftime("%H:%M:%S")}</a:t>
            </a:r>
            <a:br/>
            <a:br/>
            <a:r>
              <a:t>if __name__ == "__main__":</a:t>
            </a:r>
            <a:br/>
            <a:r>
              <a:t>    mcp.run(transport="http", port=8001)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Mechanics of the 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The Interception Protocol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When an LLM determines it needs external data, it returns a structured list of tool calls containing arguments, halting verbal text rendering.</a:t>
            </a:r>
          </a:p>
          <a:p>
            <a:pPr>
              <a:spcBef>
                <a:spcPts val="14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Executing the Intercept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The client-side runtime detects these tool calls, halts output streaming, extracts the arguments, and executes the designated Python tools locally.</a:t>
            </a:r>
          </a:p>
          <a:p>
            <a:pPr>
              <a:spcBef>
                <a:spcPts val="14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Grounding and Context Feedback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The execution results are packaged into a list of ToolMessage objects. These are appended to the conversation history, and the LLM is immediately re-invoked.</a:t>
            </a:r>
          </a:p>
          <a:p>
            <a:pPr>
              <a:spcBef>
                <a:spcPts val="14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Final Verbalization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The LLM uses this injected factual context to generate a correct, grounded, and verified final explanation, then outputs it to the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1148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1. User Prompt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743200"/>
            <a:ext cx="411480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🔄 THE ACTIVE AGENTIC CYCLE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2. LLM requests Tool Execution</a:t>
            </a:r>
            <a:br/>
            <a:r>
              <a:t>3. Local Python runner executes Tools</a:t>
            </a:r>
            <a:br/>
            <a:r>
              <a:t>4. Output injected as ToolMessage context</a:t>
            </a:r>
            <a:br/>
            <a:r>
              <a:t>5. LLM re-evaluates message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5120640"/>
            <a:ext cx="41148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6. Final Streamed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HANDS-ON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Phase 5: Building a Resilient Parallel Agent (main4_agent_chainlit.py)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Speed Offense: Asynchronous Parallel Execution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Sequential execution creates massive user delay. We implement asyncio.gather() to fire all requested tool calls concurrently, dropping latencies by over 60%!</a:t>
            </a:r>
          </a:p>
          <a:p>
            <a:pPr>
              <a:spcBef>
                <a:spcPts val="14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Defensive Safety: Exception Feedback Loops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If an API call fails (network drop, invalid path), standard loops crash. We wrap executions in a try-except, feeding the error back to the LLM as ToolMessage. The LLM parses it and self-corrects.</a:t>
            </a:r>
          </a:p>
          <a:p>
            <a:pPr>
              <a:spcBef>
                <a:spcPts val="14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• Seamless UX: Native collapsible Step Logs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We use Chainlit's cl.Step class, which automatically maps tool inputs, execution times, and outputs directly into collapsible parent-child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main4_agent_chainlit.py (Parallel Agent Loop)</a:t>
            </a:r>
          </a:p>
          <a:p>
            <a:pPr>
              <a:spcBef>
                <a:spcPts val="1400"/>
              </a:spcBef>
              <a:defRPr sz="1000">
                <a:solidFill>
                  <a:srgbClr val="F8FAFC"/>
                </a:solidFill>
                <a:latin typeface="Courier New"/>
              </a:defRPr>
            </a:pPr>
            <a:r>
              <a:t>while response.tool_calls:</a:t>
            </a:r>
            <a:br/>
            <a:r>
              <a:t>    history.append(response)</a:t>
            </a:r>
            <a:br/>
            <a:r>
              <a:t>    </a:t>
            </a:r>
            <a:br/>
            <a:r>
              <a:t>    # Spawn concurrent execution tasks</a:t>
            </a:r>
            <a:br/>
            <a:r>
              <a:t>    tasks = [</a:t>
            </a:r>
            <a:br/>
            <a:r>
              <a:t>        run_single_tool(tc, tool_map) </a:t>
            </a:r>
            <a:br/>
            <a:r>
              <a:t>        for tc in response.tool_calls</a:t>
            </a:r>
            <a:br/>
            <a:r>
              <a:t>    ]</a:t>
            </a:r>
            <a:br/>
            <a:r>
              <a:t>    </a:t>
            </a:r>
            <a:br/>
            <a:r>
              <a:t>    # Parallel execution speed offense!</a:t>
            </a:r>
            <a:br/>
            <a:r>
              <a:t>    tool_results = await asyncio.gather(*tasks)</a:t>
            </a:r>
            <a:br/>
            <a:r>
              <a:t>    </a:t>
            </a:r>
            <a:br/>
            <a:r>
              <a:t>    for result_msg in tool_results:</a:t>
            </a:r>
            <a:br/>
            <a:r>
              <a:t>        history.append(result_msg)</a:t>
            </a:r>
            <a:br/>
            <a:r>
              <a:t>        </a:t>
            </a:r>
            <a:br/>
            <a:r>
              <a:t>    # Re-invoke LLM with grounded facts</a:t>
            </a:r>
            <a:br/>
            <a:r>
              <a:t>    response = await bound_model.ainvoke(history)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Summary &amp; Workshop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Summary of Key Lessons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**Memory is a Client-Side state**: History must be accumulated and re-sent.</a:t>
            </a:r>
            <a:br/>
            <a:br/>
            <a:r>
              <a:t>• **MCP standardizes capabilities**: Expose complex system processes under an open runtime standard.</a:t>
            </a:r>
            <a:br/>
            <a:br/>
            <a:r>
              <a:t>• **Bypass Streamlit for Chat**: Use specialized conversational UIs like Chainlit for native token streams and collapsible logs.</a:t>
            </a:r>
            <a:br/>
            <a:br/>
            <a:r>
              <a:t>• **Build Resilient Loops**: Concurrent tool runs (`asyncio.gather()`) and fallback error logging are essential for production-grade AI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defRPr sz="1600" b="1">
                <a:solidFill>
                  <a:srgbClr val="6366F1"/>
                </a:solidFill>
                <a:latin typeface="Arial"/>
              </a:defRPr>
            </a:pPr>
            <a:r>
              <a:t>🚀 YOUR HANDS-ON CHALLENGE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1. Open **`mcpserver.py`** and write a third tool:</a:t>
            </a:r>
            <a:br/>
            <a:r>
              <a:t>   `travel_journal(action: str, content: str = '') -&gt; str`</a:t>
            </a:r>
            <a:br/>
            <a:r>
              <a:t>   This tool should append preferences and trip notes to 'travel_journal.txt' or read them on demand.</a:t>
            </a:r>
            <a:br/>
            <a:br/>
            <a:r>
              <a:t>2. Launch **`main4_agent_chainlit.py`** and prompt your agent:</a:t>
            </a:r>
            <a:br/>
            <a:r>
              <a:t>   *"Check the weather in Athens, and write inside my travel journal that Athens is sunny!"*</a:t>
            </a:r>
            <a:br/>
            <a:br/>
            <a:r>
              <a:t>3. Verify that the Parallel Agent executes these tool runs in parallel and handles user dialogue seamlessly!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